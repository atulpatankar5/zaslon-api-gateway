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SPRING BOOT 3.X MICROSERVICES ARCHITECTURE</a:t>
            </a:r>
          </a:p>
          <a:p>
            <a:pPr>
              <a:spcBef>
                <a:spcPts val="1200"/>
              </a:spcBef>
              <a:defRPr sz="4400" b="1">
                <a:solidFill>
                  <a:srgbClr val="FFFFFF"/>
                </a:solidFill>
              </a:defRPr>
            </a:pPr>
            <a:r>
              <a:t>Zaslon API Gateway</a:t>
            </a:r>
          </a:p>
          <a:p>
            <a:pPr>
              <a:spcBef>
                <a:spcPts val="800"/>
              </a:spcBef>
              <a:defRPr sz="2000">
                <a:solidFill>
                  <a:srgbClr val="CBD5E1"/>
                </a:solidFill>
              </a:defRPr>
            </a:pPr>
            <a:r>
              <a:t>Multi-Tenant Control Plane, Smart Routing Data Plane &amp; Telemetry Flow</a:t>
            </a:r>
          </a:p>
          <a:p>
            <a:pPr>
              <a:spcBef>
                <a:spcPts val="3000"/>
              </a:spcBef>
              <a:defRPr sz="1400">
                <a:solidFill>
                  <a:srgbClr val="64748B"/>
                </a:solidFill>
              </a:defRPr>
            </a:pPr>
            <a:r>
              <a:t>Comprehensive Documentation &amp; API Propagation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The Three-Plane Distributed Architecture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Zaslon separates governance, traffic routing, and telemetry into three dedicated microservices.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CONTROL PLANE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api-management-service (8081)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100" i="1">
                <a:solidFill>
                  <a:srgbClr val="64748B"/>
                </a:solidFill>
              </a:defRPr>
            </a:pPr>
            <a:r>
              <a:t>Administrative Authority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Multi-tenant Organization lifecycle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Tenant Admin management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Dynamic Route configuration &amp; policies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Immutable Route Version Snapshots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Control Plane Audit Records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Interactive Web Console 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0FDFA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DATA PLANE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smart-gateway-service (8080)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100" i="1">
                <a:solidFill>
                  <a:srgbClr val="64748B"/>
                </a:solidFill>
              </a:defRPr>
            </a:pPr>
            <a:r>
              <a:t>Traffic Interception &amp; Proxy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High-throughput client entrypoint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Tenant slug prefix routing (/{tenant}/**)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Rate limiting (RPM enforcement)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Response timeout guards (ms)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Request &amp; Response Header mutation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Syncs active routes from Control Plane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AF5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C3AED"/>
                </a:solidFill>
              </a:defRPr>
            </a:pPr>
            <a:r>
              <a:t>OBSERVATION PLANE</a:t>
            </a:r>
          </a:p>
          <a:p>
            <a:pPr>
              <a:spcBef>
                <a:spcPts val="400"/>
              </a:spcBef>
              <a:defRPr sz="1400" b="1">
                <a:solidFill>
                  <a:srgbClr val="0F172A"/>
                </a:solidFill>
              </a:defRPr>
            </a:pPr>
            <a:r>
              <a:t>analytics-service (8082)</a:t>
            </a:r>
          </a:p>
          <a:p>
            <a:pPr>
              <a:spcBef>
                <a:spcPts val="200"/>
              </a:spcBef>
              <a:spcAft>
                <a:spcPts val="1400"/>
              </a:spcAft>
              <a:defRPr sz="1100" i="1">
                <a:solidFill>
                  <a:srgbClr val="64748B"/>
                </a:solidFill>
              </a:defRPr>
            </a:pPr>
            <a:r>
              <a:t>Telemetry &amp; Observability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Captures gateway request events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Aggregates latencies &amp; response codes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Traffic pattern analytics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Asynchronous telemetry intake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Audit trail observability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Service health check endpoint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SECURITY &amp; TENANT ISOLATION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Stateless JWT Authentication &amp; Strict RBAC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Complete separation of concerns between Platform Operators, Tenants, and Gateway Services.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PLATFORM_ADMIN  —  Superuser / Platform Operator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Full global access to provision organizations, activate/suspend tenants, and assign tenant admins.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Endpoints: /api/platform/organizations/** | Manages organization lifecycle (PENDING -&gt; ACTIVE -&gt; SUSPENDED) | Provisions Tenant Admin accounts and credentials | Global audit observation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3375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TENANT_ADMIN  —  Organization Administrator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Strictly bounded to their assigned organization; manages routes and policies under their slug.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Endpoints: /api/tenant/** | Defines routes with required tenant slug prefix (/{slug}/**) | Configures rate limits, timeouts, and header rules | Inspects version snapshot history and tenant audit trails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GATEWAY_SERVICE  —  Machine-to-Machine Integration</a:t>
            </a:r>
          </a:p>
          <a:p>
            <a:pPr>
              <a:spcAft>
                <a:spcPts val="400"/>
              </a:spcAft>
              <a:defRPr sz="1100">
                <a:solidFill>
                  <a:srgbClr val="0F172A"/>
                </a:solidFill>
              </a:defRPr>
            </a:pPr>
            <a:r>
              <a:t>Internal system service account enabling the Data Plane to query configuration dynamically.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Endpoint: GET /api/gateway | Synchronizes active routes for active organizations only | Zero exposure of administrative or secret tenant data | Automated cache refresh in smart-gateway-service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CONTROL PLANE API SPECIFICATIONS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Platform Administration APIs (/api/platform)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Exclusively accessible to PLATFORM_ADMIN to manage organizations and tenant credentials.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4023360"/>
                <a:gridCol w="118872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HTTP 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 Pattern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 Codes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/api/auth/login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Authenticate management users (Platform / Tenant / Gateway)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200, 401, 403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Create an organization (initial state: PENDING)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201, 400, 409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List all organizations (filters out soft-deleted)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Get organization details by primary key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Update organization name and slug (validates uniqueness)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200, 400, 409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/api/platform/organizations/{id}/status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Change status (ACTIVE, SUSPENDED; validates soft-delete)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200, 400, 404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Soft-delete organization (marks status=DELETED, deletedAt)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204, 404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/api/platform/organizations/{id}/tenant-admin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Provision Tenant Administrator account &amp; password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201, 409, 404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/api/platform/organizations/{id}/tenant-admin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Retrieve tenant admin info for the specified 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/api/platform/organizations/{id}/tenant-admin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Update tenant admin username/password/enabled state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200, 409, 404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/api/platform/organizations/{id}/tenant-admin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Remove tenant admin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204, 404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CONTROL PLANE API SPECIFICATIONS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Tenant Route Management APIs (/api/tenant)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Authorized for TENANT_ADMIN to configure routing, traffic policies, versioning, and audits.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114800"/>
                <a:gridCol w="4023360"/>
                <a:gridCol w="1188720"/>
              </a:tblGrid>
              <a:tr h="381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HTTP Method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Path Pattern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Status Codes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/api/tenant/organization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Inspect current tenant organization profile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/api/tenant/organization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Update tenant organization display name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Create new route (validates slug prefix, methods, header rules)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201, 400, 409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List all routes belonging to the authenticated tenant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/api/tenant/routes/{id}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Fetch route by ID (isolated to authenticated tenant)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Update route configuration (increments version snapshot)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200, 400, 404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563EB"/>
                          </a:solidFill>
                        </a:defRPr>
                      </a:pPr>
                      <a:r>
                        <a:t>PATCH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/api/tenant/routes/{id}/status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Toggle route active/inactive state (increments version snapshot)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200, 404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7C3AED"/>
                          </a:solidFill>
                        </a:defRPr>
                      </a:pPr>
                      <a:r>
                        <a:t>DELETE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/api/tenant/routes/{id}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Delete route (records final DELETED configuration snapshot)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204, 404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/api/tenant/route-versions?routeId=...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Inspect complete version history and snapshot JSON diffs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/api/tenant/audit-records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Retrieve chronologically ordered audit logs for this tenant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0D948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/api/gateway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Gateway route sync endpoint (Active routes for Active tenants only)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F172A"/>
                          </a:solidFill>
                        </a:defRPr>
                      </a:pPr>
                      <a:r>
                        <a:t>200 (GATEWAY_SERVICE)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POLICY DEFINITION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Route Configuration Model &amp; Traffic Controls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Each route encapsulates upstream mapping, protocol filtering, traffic bounds, and header manipulation.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2563EB"/>
                </a:solidFill>
              </a:defRPr>
            </a:pPr>
            <a:r>
              <a:t>Path &amp; Upstream Target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pathPattern: Public pattern starting with /{tenant-slug}/**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targetBaseUrl: Valid HTTP/HTTPS backend root (e.g. http://orders-service:8090)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targetPathPrefix: Upstream destination path prefix (e.g. /api/v1/orders)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Dynamic parameter forwarding and path suffix propagation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177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D9488"/>
                </a:solidFill>
              </a:defRPr>
            </a:pPr>
            <a:r>
              <a:t>Traffic Controls &amp; Policies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requestsPerMinute: Token-bucket or fixed-window rate limiter per tenant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responseTimeoutMs: Enforces strict upstream SLA (fails fast if backend hangs)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idempotencyEnabled: Deduplicates repeated POST/PUT requests using Idempotency-Key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active: Immediate kill-switch enabling/disabling route without deletion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75320" y="182880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7C3AED"/>
                </a:solidFill>
              </a:defRPr>
            </a:pPr>
            <a:r>
              <a:t>Method Whitelist &amp; Header Rules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allowedMethods: Restrict HTTP verbs (e.g. GET, POST only; 405 on violation)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Header Direction: REQUEST (inbound to backend) or RESPONSE (outbound to client)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Header Action: ADD (inject header) or REMOVE (strip sensitive backend headers)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• Example: Inject X-Tenant-Id or strip internal X-Powered-By / server details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CONFIGURATION GOVERNANCE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Route Versioning &amp; Snapshotting Engine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Every mutation creates a permanent, immutable record for auditability, rollback, and compliance.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Version 1 (CREATED)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Route initially registered by tenant admin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Full configuration serialized to JSON snapshot in database.</a:t>
            </a:r>
          </a:p>
          <a:p>
            <a:pPr>
              <a:spcBef>
                <a:spcPts val="1600"/>
              </a:spcBef>
              <a:defRPr sz="900" i="1">
                <a:solidFill>
                  <a:srgbClr val="2563EB"/>
                </a:solidFill>
              </a:defRPr>
            </a:pPr>
            <a:r>
              <a:t>Immutable JSON Snapshot</a:t>
            </a:r>
            <a:br/>
            <a:r>
              <a:t>Captured in DB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9488"/>
                </a:solidFill>
              </a:defRPr>
            </a:pPr>
            <a:r>
              <a:t>Version 2 (UPDATED)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Route parameters modified (e.g., timeout changed)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Version counter incremented (v2); new JSON state stored.</a:t>
            </a:r>
          </a:p>
          <a:p>
            <a:pPr>
              <a:spcBef>
                <a:spcPts val="1600"/>
              </a:spcBef>
              <a:defRPr sz="900" i="1">
                <a:solidFill>
                  <a:srgbClr val="0D9488"/>
                </a:solidFill>
              </a:defRPr>
            </a:pPr>
            <a:r>
              <a:t>Immutable JSON Snapshot</a:t>
            </a:r>
            <a:br/>
            <a:r>
              <a:t>Captured in 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C3AED"/>
                </a:solidFill>
              </a:defRPr>
            </a:pPr>
            <a:r>
              <a:t>Version 3 (ACTIVATED / DEACTIVATED)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Status toggled via PATCH endpoint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Records exact state at time of status transition.</a:t>
            </a:r>
          </a:p>
          <a:p>
            <a:pPr>
              <a:spcBef>
                <a:spcPts val="1600"/>
              </a:spcBef>
              <a:defRPr sz="900" i="1">
                <a:solidFill>
                  <a:srgbClr val="7C3AED"/>
                </a:solidFill>
              </a:defRPr>
            </a:pPr>
            <a:r>
              <a:t>Immutable JSON Snapshot</a:t>
            </a:r>
            <a:br/>
            <a:r>
              <a:t>Captured in DB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56032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1D48"/>
                </a:solidFill>
              </a:defRPr>
            </a:pPr>
            <a:r>
              <a:t>Version 4 (DELETED)</a:t>
            </a:r>
          </a:p>
          <a:p>
            <a:pPr>
              <a:spcBef>
                <a:spcPts val="800"/>
              </a:spcBef>
              <a:defRPr sz="1100" b="1">
                <a:solidFill>
                  <a:srgbClr val="0F172A"/>
                </a:solidFill>
              </a:defRPr>
            </a:pPr>
            <a:r>
              <a:t>Route removed from operational routing table</a:t>
            </a:r>
          </a:p>
          <a:p>
            <a:pPr>
              <a:spcBef>
                <a:spcPts val="600"/>
              </a:spcBef>
              <a:defRPr sz="1000">
                <a:solidFill>
                  <a:srgbClr val="64748B"/>
                </a:solidFill>
              </a:defRPr>
            </a:pPr>
            <a:r>
              <a:t>Final tombstone snapshot saved before entity deletion.</a:t>
            </a:r>
          </a:p>
          <a:p>
            <a:pPr>
              <a:spcBef>
                <a:spcPts val="1600"/>
              </a:spcBef>
              <a:defRPr sz="900" i="1">
                <a:solidFill>
                  <a:srgbClr val="E11D48"/>
                </a:solidFill>
              </a:defRPr>
            </a:pPr>
            <a:r>
              <a:t>Immutable JSON Snapshot</a:t>
            </a:r>
            <a:br/>
            <a:r>
              <a:t>Captured in DB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FLOW &amp; PROPAGATION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Propagation Flow 1: Tenant Onboarding Lifecycle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How an organization is registered, verified, provisioned, and activated for routing.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1: Admin Auth   |   POST /api/auth/login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Platform Admin submits credentials; receives signed JWT with PLATFORM_ADMIN role.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2: Create Org   |   POST /api/platform/organizations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Validates name/slug uniqueness. Persists with status PENDING. Emits CREATE_ORGANIZATION audit.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3: Provision Admin   |   POST /.../{id}/tenant-admin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Hashes password via BCrypt. Links user to Organization with TENANT_ADMIN role.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4: Activation   |   PATCH /.../{id}/status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Status changed to ACTIVE. Only ACTIVE organizations can be queried by the Data Plane.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8229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5778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Step 5: Tenant Ready   |   POST /api/auth/login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Tenant admin signs in, receives JWT with organizationId claim, ready to configure routes.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FLOW &amp; PROPAGATION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Propagation Flow 2: Live Request Interception &amp; Routing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Step-by-step propagation of an inbound client request through the Gateway to upstream service.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1907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1. Inbound Request  —  Client calls http://gateway:8080/foodfast/orders/99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Smart Gateway receives client request; initiates processing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40864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1401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2. Route Resolution  —  Matches /foodfast/orders/**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Identifies routeId='orders-api' from cached synchronization 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35808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3. Method &amp; Policy Check  —  Verifies HTTP Verb &amp; Rate Limit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Ensures GET is permitted. Checks rate limiter counter (120 RPM max).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730752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0390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4. Request Header Rules  —  Injects X-Forwarded-Tenant: foodfast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Applies configured REQUEST header rules before forwarding.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425696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98848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5. Forward to Upstream  —  http://orders-backend.internal:8090/api/v1/orders/99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Proxies request with strict response timeout guard (3000ms).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19379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6. Upstream Response  —  Backend returns 200 OK JSON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Gateway receives response; applies RESPONSE rules (e.g. strips X-Powered-By).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815584"/>
            <a:ext cx="10698480" cy="62179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888736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</a:defRPr>
            </a:pPr>
            <a:r>
              <a:t>7. Async Telemetry  —  Emits event to analytics-service (8082)</a:t>
            </a:r>
          </a:p>
          <a:p>
            <a:pPr>
              <a:defRPr sz="950">
                <a:solidFill>
                  <a:srgbClr val="0F172A"/>
                </a:solidFill>
              </a:defRPr>
            </a:pPr>
            <a:r>
              <a:t>Logs route, tenant, duration (42ms), and status code asynchronously.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PERSISTENCE LAYER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Relational Database Schema (MySQL + Flyway)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Normalized relational schema enforcing multi-tenancy, configuration snapshots, and audit logging.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organizations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Tenant Master Entity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id (PK)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name (UNIQUE)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slug (UNIQUE)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status (VARCHAR)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created_at, updated_at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deleted_at (Soft Delete)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5603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management_users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User Credentials &amp; Roles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id (PK)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organization_id (FK, NULL for platform)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role_id (FK to roles)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username (UNIQUE)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password_hash (BCrypt)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enabled (BOOLEAN)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603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api_routes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Route Definitions &amp; Policies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id (PK)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organization_id (FK)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route_id (Tenant UNIQUE)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path_pattern, target_base_url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requests_per_minute, timeout_ms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active, configuration_version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645920"/>
            <a:ext cx="256032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1828800"/>
            <a:ext cx="2194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route_configuration_versions</a:t>
            </a:r>
          </a:p>
          <a:p>
            <a:pPr>
              <a:spcAft>
                <a:spcPts val="1200"/>
              </a:spcAft>
              <a:defRPr sz="1000" i="1">
                <a:solidFill>
                  <a:srgbClr val="64748B"/>
                </a:solidFill>
              </a:defRPr>
            </a:pPr>
            <a:r>
              <a:t>Immutable Version History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id (PK)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organization_id (FK)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route_id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version_number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change_type (CREATED, UPDATED)</a:t>
            </a:r>
          </a:p>
          <a:p>
            <a:pPr>
              <a:spcAft>
                <a:spcPts val="600"/>
              </a:spcAft>
              <a:defRPr sz="1000">
                <a:solidFill>
                  <a:srgbClr val="0F172A"/>
                </a:solidFill>
              </a:defRPr>
            </a:pPr>
            <a:r>
              <a:t>• configuration_snapshot (LONGTEXT)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SUMMARY &amp; NEXT STEPS</a:t>
            </a:r>
          </a:p>
          <a:p>
            <a:pPr>
              <a:spcBef>
                <a:spcPts val="400"/>
              </a:spcBef>
              <a:defRPr sz="2400" b="1">
                <a:solidFill>
                  <a:srgbClr val="0F172A"/>
                </a:solidFill>
              </a:defRPr>
            </a:pPr>
            <a:r>
              <a:t>Zaslon API Gateway Summary &amp; Roadmap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</a:defRPr>
            </a:pPr>
            <a:r>
              <a:t>A robust, scalable foundation for enterprise multi-tenant API traffic management.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2563EB"/>
                </a:solidFill>
              </a:defRPr>
            </a:pPr>
            <a:r>
              <a:t>Current Capabilities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Decoupled Control Plane, Data Plane &amp; Observation Plane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Stateless JWT Authentication with Role-Based Access Control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Dynamic multi-tenant route onboarding with slug namespace isolation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Fine-grained traffic policies: RPM throttling, timeouts, idempotency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Automated configuration version snapshots with complete JSON diffs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Full control plane audit trails with correlation ID propagation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Embedded interactive web console for Platform &amp; Tenant Operators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4663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 b="1">
                <a:solidFill>
                  <a:srgbClr val="0D9488"/>
                </a:solidFill>
              </a:defRPr>
            </a:pPr>
            <a:r>
              <a:t>Upcoming Roadmap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Redis-backed distributed rate limiting &amp; token bucket synchronization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Automated Route Rollback via one-click configuration snapshot restore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Distributed tracing propagation (OpenTelemetry / W3C Trace Context)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Kafka-based event streaming to analytics-service for high-load telemetry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Circuit Breaker integration (Resilience4j) on backend latency spikes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Canary &amp; Blue/Green traffic splitting across multiple backend versions</a:t>
            </a:r>
          </a:p>
          <a:p>
            <a:pPr>
              <a:spcAft>
                <a:spcPts val="1000"/>
              </a:spcAft>
              <a:defRPr sz="1100">
                <a:solidFill>
                  <a:srgbClr val="0F172A"/>
                </a:solidFill>
              </a:defRPr>
            </a:pPr>
            <a:r>
              <a:t>✔ Custom API Key &amp; OAuth2 client token verification at Gateway edge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